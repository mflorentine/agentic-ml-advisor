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he idea" id="{564e98c4-041c-4b18-b0c3-e94ac1d1f056}">
          <p14:sldIdLst>
            <p14:sldId id="256"/>
            <p14:sldId id="257"/>
            <p14:sldId id="258"/>
            <p14:sldId id="259"/>
            <p14:sldId id="260"/>
          </p14:sldIdLst>
        </p14:section>
        <p14:section name="Worked example" id="{bb1c840a-5142-bfb2-8158-a7af97e56110}">
          <p14:sldIdLst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Where it stands" id="{409dcfac-bafc-9c41-7abf-ab31a5a050b4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talk explains the agentic ML advisor: what it is for, how it works, and what it did on a real analysis. Everything shown comes from the files in the workspace; the 'screenshots' are renders of real excerpts, each labelled with its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Purpose section of instructions.md: the work should end in a report consistent with how the book's authors would work. These five principles come from ML Guide.md Part I, with the book's page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ML Guide.md §7. Until Code/advisor/ is built, each analysis has an interim core (Code/sepsis/core.py), shown to the user before its first output is used and labelled 'interim core, not reviewed'.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instructions.md, The Five Steps. The agent asks 'have we thought of everything in step 2?' rather than 'shall we move on?'. The Heart Failure analysis went through all five; the Sepsis analysis has closed steps 1 to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ML Guide.md §8 and §9. Tags are copied into Decision Records unchanged and never upgraded, so a reader can count how much of a recommendation rests on the book and how much on our own thresholds.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finished reference analysis, Demonstration/Heart Failure. The user's problem: 'Flag heart failure patients at high risk of dying during follow-up, so they can be monitored more closely.' Eleven inputs; follow-up time is in the file but not used, because it ends when the outcome happens.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test set was locked at the end of step 2: 60 patients, stratified by outcome, seed 2026. The success criterion is test F2 above flag-everyone (0.7038 on the training patients) by more than the fold spread of F2.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Serum creatinine and creatinine phosphokinase enter every model as logarithms (DR-11, the user's decision). Figures never set the expected shape of a relationship.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prior entries that favoured logistic regression concern inspectability and probabilities, not predictive fit, so the disagreement on F2 does not contradict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Nested cross-validation: 10 outer folds, the same for every configuration; 5 inner folds tune depth, leaf size, penalty and degree. Models compared on F2 at a threshold of 0.5. Flag-everyone scores 0.7032 in cross-validation.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final tree: depth 3, at least 20 patients per leaf, threshold 0.2 chosen from out-of-fold probabilities on the training patients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required F2 was 0.7038 plus the fold spread 0.0865, i.e. 0.7903. The tree flags 42 of 60 patients; in practice it differs from flagging everyone only through one low-risk group, which the held-out patients do not show to be 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dataset is used to move the method closer to the book: where the contract or the guide leads to something the authors would not do, it is changed under FRAMEWORK and the change is logged in the analysis that prompted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E4D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A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EE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A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A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An agentic ML advisor that works the way the book does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Machine learning guidance from Lindholm et al., chapters 2, 3, 4 and 13 — with the Heart Failure analysis as a worked example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Florentine Mukamana · CoRE AI research visit · October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The aim: a report the book's authors would recognise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4206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An AI agent works through a supervised ML problem with the user, one step at a time.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Every rule it follows is judged by one test: is this how Lindholm, Wahlström, Lindsten and Schön would work?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9768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3"/>
                </a:solidFill>
              </a:rPr>
              <a:t>Machine Learning – A First Course for Engineers and Scientists, 2nd ed. (smlbook.org)</a:t>
            </a:r>
            <a:endParaRPr lang="en-US" sz="1300" dirty="0"/>
          </a:p>
        </p:txBody>
      </p:sp>
      <p:sp>
        <p:nvSpPr>
          <p:cNvPr id="5" name="circle 1"/>
          <p:cNvSpPr/>
          <p:nvPr/>
        </p:nvSpPr>
        <p:spPr>
          <a:xfrm>
            <a:off x="5303520" y="139903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03520" y="1399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89320" y="132588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Predict, don't explain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aim is the output for new cases, not how variables are connected (p. 20)</a:t>
            </a:r>
            <a:endParaRPr lang="en-US" sz="1700" dirty="0"/>
          </a:p>
        </p:txBody>
      </p:sp>
      <p:sp>
        <p:nvSpPr>
          <p:cNvPr id="8" name="circle 2"/>
          <p:cNvSpPr/>
          <p:nvPr/>
        </p:nvSpPr>
        <p:spPr>
          <a:xfrm>
            <a:off x="5303520" y="23317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0352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989320" y="2258568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Define the problem first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Validation and test data, one metric and a baseline, agreed before any model (pp. 327–331)</a:t>
            </a:r>
            <a:endParaRPr lang="en-US" sz="1700" dirty="0"/>
          </a:p>
        </p:txBody>
      </p:sp>
      <p:sp>
        <p:nvSpPr>
          <p:cNvPr id="11" name="circle 3"/>
          <p:cNvSpPr/>
          <p:nvPr/>
        </p:nvSpPr>
        <p:spPr>
          <a:xfrm>
            <a:off x="5303520" y="326440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03520" y="3264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989320" y="3191256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Start simple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Add complexity only when the errors call for it (pp. 331–337)</a:t>
            </a:r>
            <a:endParaRPr lang="en-US" sz="1700" dirty="0"/>
          </a:p>
        </p:txBody>
      </p:sp>
      <p:sp>
        <p:nvSpPr>
          <p:cNvPr id="14" name="circle 4"/>
          <p:cNvSpPr/>
          <p:nvPr/>
        </p:nvSpPr>
        <p:spPr>
          <a:xfrm>
            <a:off x="5303520" y="4197096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03520" y="4197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989320" y="4123944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Compare by cross-validation, test once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chosen model meets the test set a single time (pp. 72–74, 328)</a:t>
            </a:r>
            <a:endParaRPr lang="en-US" sz="1700" dirty="0"/>
          </a:p>
        </p:txBody>
      </p:sp>
      <p:sp>
        <p:nvSpPr>
          <p:cNvPr id="17" name="circle 5"/>
          <p:cNvSpPr/>
          <p:nvPr/>
        </p:nvSpPr>
        <p:spPr>
          <a:xfrm>
            <a:off x="5303520" y="5129784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03520" y="51297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989320" y="5056632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Report E_new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 average-case estimate on data like the evaluation data (pp. 68–69, 347)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A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Four parts, each with one job</a:t>
            </a:r>
            <a:endParaRPr lang="en-US" sz="3000" dirty="0"/>
          </a:p>
        </p:txBody>
      </p:sp>
      <p:sp>
        <p:nvSpPr>
          <p:cNvPr id="3" name="box The user"/>
          <p:cNvSpPr/>
          <p:nvPr/>
        </p:nvSpPr>
        <p:spPr>
          <a:xfrm>
            <a:off x="548640" y="1600200"/>
            <a:ext cx="2560320" cy="2834640"/>
          </a:xfrm>
          <a:prstGeom prst="roundRect">
            <a:avLst>
              <a:gd name="adj" fmla="val 535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73736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The user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Directs every step, answers the questions only they can answer, makes every call</a:t>
            </a:r>
            <a:endParaRPr lang="en-US" sz="2000" dirty="0"/>
          </a:p>
        </p:txBody>
      </p:sp>
      <p:sp>
        <p:nvSpPr>
          <p:cNvPr id="5" name="arrow 0"/>
          <p:cNvSpPr/>
          <p:nvPr/>
        </p:nvSpPr>
        <p:spPr>
          <a:xfrm>
            <a:off x="3136392" y="2852928"/>
            <a:ext cx="265176" cy="329184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box The agent"/>
          <p:cNvSpPr/>
          <p:nvPr/>
        </p:nvSpPr>
        <p:spPr>
          <a:xfrm>
            <a:off x="3429000" y="1600200"/>
            <a:ext cx="2560320" cy="2834640"/>
          </a:xfrm>
          <a:prstGeom prst="roundRect">
            <a:avLst>
              <a:gd name="adj" fmla="val 53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11880" y="173736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The agent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Claude Code, bound by instructions.md and ML Guide.md: asks, explains, checks, writes the records</a:t>
            </a:r>
            <a:endParaRPr lang="en-US" sz="2000" dirty="0"/>
          </a:p>
        </p:txBody>
      </p:sp>
      <p:sp>
        <p:nvSpPr>
          <p:cNvPr id="8" name="arrow 1"/>
          <p:cNvSpPr/>
          <p:nvPr/>
        </p:nvSpPr>
        <p:spPr>
          <a:xfrm>
            <a:off x="6016752" y="2852928"/>
            <a:ext cx="265176" cy="329184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box The deterministic core"/>
          <p:cNvSpPr/>
          <p:nvPr/>
        </p:nvSpPr>
        <p:spPr>
          <a:xfrm>
            <a:off x="6309360" y="1600200"/>
            <a:ext cx="2560320" cy="2834640"/>
          </a:xfrm>
          <a:prstGeom prst="roundRect">
            <a:avLst>
              <a:gd name="adj" fmla="val 53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173736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The deterministic core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Python / scikit-learn: properties, admissible set, prior ranking, nested CV, recommendation</a:t>
            </a:r>
            <a:endParaRPr lang="en-US" sz="2000" dirty="0"/>
          </a:p>
        </p:txBody>
      </p:sp>
      <p:sp>
        <p:nvSpPr>
          <p:cNvPr id="11" name="arrow 2"/>
          <p:cNvSpPr/>
          <p:nvPr/>
        </p:nvSpPr>
        <p:spPr>
          <a:xfrm>
            <a:off x="8897112" y="2852928"/>
            <a:ext cx="265176" cy="329184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box The records"/>
          <p:cNvSpPr/>
          <p:nvPr/>
        </p:nvSpPr>
        <p:spPr>
          <a:xfrm>
            <a:off x="9189720" y="1600200"/>
            <a:ext cx="2560320" cy="2834640"/>
          </a:xfrm>
          <a:prstGeom prst="roundRect">
            <a:avLst>
              <a:gd name="adj" fmla="val 535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372600" y="173736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The records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Appendix.md: Decision Records and log. Report.md: built up step by step</a:t>
            </a:r>
            <a:endParaRPr lang="en-US" sz="2000" dirty="0"/>
          </a:p>
        </p:txBody>
      </p:sp>
      <p:sp>
        <p:nvSpPr>
          <p:cNvPr id="14" name="principle"/>
          <p:cNvSpPr/>
          <p:nvPr/>
        </p:nvSpPr>
        <p:spPr>
          <a:xfrm>
            <a:off x="548640" y="4846320"/>
            <a:ext cx="1106424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9377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Rules propose, cross-validation decides, the trace explains.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agent never computes the mechanical parts itself: it passes inputs to the core and copies the outputs into the records unchanged, with the code's SHA-256.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A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Five steps, one at a time, closed by the user</a:t>
            </a:r>
            <a:endParaRPr lang="en-US" sz="3000" dirty="0"/>
          </a:p>
        </p:txBody>
      </p:sp>
      <p:sp>
        <p:nvSpPr>
          <p:cNvPr id="3" name="timeline"/>
          <p:cNvSpPr/>
          <p:nvPr/>
        </p:nvSpPr>
        <p:spPr>
          <a:xfrm>
            <a:off x="914400" y="2057400"/>
            <a:ext cx="9966960" cy="0"/>
          </a:xfrm>
          <a:prstGeom prst="line">
            <a:avLst/>
          </a:prstGeom>
          <a:noFill/>
          <a:ln w="25400">
            <a:solidFill>
              <a:srgbClr val="6C8A93"/>
            </a:solidFill>
            <a:prstDash val="solid"/>
          </a:ln>
        </p:spPr>
      </p:sp>
      <p:sp>
        <p:nvSpPr>
          <p:cNvPr id="4" name="circle 1"/>
          <p:cNvSpPr/>
          <p:nvPr/>
        </p:nvSpPr>
        <p:spPr>
          <a:xfrm>
            <a:off x="1097280" y="17373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0604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Import and scope</a:t>
            </a:r>
            <a:endParaRPr lang="en-US" sz="17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Provenance, units, missing data, leakage; admissibility questions</a:t>
            </a:r>
            <a:endParaRPr lang="en-US" sz="1700" dirty="0"/>
          </a:p>
        </p:txBody>
      </p:sp>
      <p:sp>
        <p:nvSpPr>
          <p:cNvPr id="7" name="circle 2"/>
          <p:cNvSpPr/>
          <p:nvPr/>
        </p:nvSpPr>
        <p:spPr>
          <a:xfrm>
            <a:off x="3337560" y="17373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3756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2788920" y="260604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Define the problem</a:t>
            </a:r>
            <a:endParaRPr lang="en-US" sz="17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Target, metric, baseline, success criterion; test set locked</a:t>
            </a:r>
            <a:endParaRPr lang="en-US" sz="1700" dirty="0"/>
          </a:p>
        </p:txBody>
      </p:sp>
      <p:sp>
        <p:nvSpPr>
          <p:cNvPr id="10" name="circle 3"/>
          <p:cNvSpPr/>
          <p:nvPr/>
        </p:nvSpPr>
        <p:spPr>
          <a:xfrm>
            <a:off x="5577840" y="17373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57784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260604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Explore training data</a:t>
            </a:r>
            <a:endParaRPr lang="en-US" sz="17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Input design, P9–P10 from the core, figures</a:t>
            </a:r>
            <a:endParaRPr lang="en-US" sz="1700" dirty="0"/>
          </a:p>
        </p:txBody>
      </p:sp>
      <p:sp>
        <p:nvSpPr>
          <p:cNvPr id="13" name="circle 4"/>
          <p:cNvSpPr/>
          <p:nvPr/>
        </p:nvSpPr>
        <p:spPr>
          <a:xfrm>
            <a:off x="7818120" y="17373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1812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7269480" y="260604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Select, train, evaluate</a:t>
            </a:r>
            <a:endParaRPr lang="en-US" sz="17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Admissible set, prior, nested CV, diagnosis, one test</a:t>
            </a:r>
            <a:endParaRPr lang="en-US" sz="1700" dirty="0"/>
          </a:p>
        </p:txBody>
      </p:sp>
      <p:sp>
        <p:nvSpPr>
          <p:cNvPr id="16" name="circle 5"/>
          <p:cNvSpPr/>
          <p:nvPr/>
        </p:nvSpPr>
        <p:spPr>
          <a:xfrm>
            <a:off x="10058400" y="17373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5840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9509760" y="260604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Conclusions</a:t>
            </a:r>
            <a:endParaRPr lang="en-US" sz="17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What the results support, and what they do not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343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Each step ends with a written check: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is settled, what was never discussed — then the agent waits. All five were completed on Heart Failure.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A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Every rule says how much of it is the book's</a:t>
            </a:r>
            <a:endParaRPr lang="en-US" sz="3000" dirty="0"/>
          </a:p>
        </p:txBody>
      </p:sp>
      <p:sp>
        <p:nvSpPr>
          <p:cNvPr id="3" name="tag [B]"/>
          <p:cNvSpPr/>
          <p:nvPr/>
        </p:nvSpPr>
        <p:spPr>
          <a:xfrm>
            <a:off x="548640" y="1371600"/>
            <a:ext cx="1463040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[B]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2240280" y="14630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Explicit book advice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e.g. split by group where rows share a unit (p. 329)</a:t>
            </a:r>
            <a:endParaRPr lang="en-US" sz="1700" dirty="0"/>
          </a:p>
        </p:txBody>
      </p:sp>
      <p:sp>
        <p:nvSpPr>
          <p:cNvPr id="6" name="tag [B→I]"/>
          <p:cNvSpPr/>
          <p:nvPr/>
        </p:nvSpPr>
        <p:spPr>
          <a:xfrm>
            <a:off x="548640" y="2697480"/>
            <a:ext cx="1463040" cy="1051560"/>
          </a:xfrm>
          <a:prstGeom prst="roundRect">
            <a:avLst>
              <a:gd name="adj" fmla="val 1043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69748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[B→I]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2240280" y="27889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 book fact we turned into advice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e.g. the imbalanced diagnosis error (p. 91)</a:t>
            </a:r>
            <a:endParaRPr lang="en-US" sz="1700" dirty="0"/>
          </a:p>
        </p:txBody>
      </p:sp>
      <p:sp>
        <p:nvSpPr>
          <p:cNvPr id="9" name="tag [I]"/>
          <p:cNvSpPr/>
          <p:nvPr/>
        </p:nvSpPr>
        <p:spPr>
          <a:xfrm>
            <a:off x="548640" y="4023360"/>
            <a:ext cx="1463040" cy="1051560"/>
          </a:xfrm>
          <a:prstGeom prst="roundRect">
            <a:avLst>
              <a:gd name="adj" fmla="val 1043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402336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[I]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2240280" y="41148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Our own inference or threshold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e.g. P10 imbalanced if smallest class &lt; 20 %</a:t>
            </a:r>
            <a:endParaRPr lang="en-US" sz="1700" dirty="0"/>
          </a:p>
        </p:txBody>
      </p:sp>
      <p:sp>
        <p:nvSpPr>
          <p:cNvPr id="12" name="card Evidence tags on every value"/>
          <p:cNvSpPr/>
          <p:nvPr/>
        </p:nvSpPr>
        <p:spPr>
          <a:xfrm>
            <a:off x="6400800" y="1371600"/>
            <a:ext cx="521208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0" y="1481328"/>
            <a:ext cx="484632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Evidence tags on every value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 metadata or the user (from step 2) · T training data (step 3) · CV cross-validation (step 4) · TEST the single final evaluation</a:t>
            </a:r>
            <a:endParaRPr lang="en-US" sz="1600" dirty="0"/>
          </a:p>
        </p:txBody>
      </p:sp>
      <p:sp>
        <p:nvSpPr>
          <p:cNvPr id="14" name="card A small, fixed solution space"/>
          <p:cNvSpPr/>
          <p:nvPr/>
        </p:nvSpPr>
        <p:spPr>
          <a:xfrm>
            <a:off x="6400800" y="3520440"/>
            <a:ext cx="521208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0" y="3630168"/>
            <a:ext cx="484632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A small, fixed solution space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14 configurations from chapters 2–3: k-NN, decision tree, linear, logistic, Poisson and exponential GLMs, with polynomial terms and L2 where allowed. Anything else is flagged, never used.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A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Worked example: death during heart failure follow-up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Heart Failure Clinical Records, UCI (2020): NYHA class III–IV patients, two hospitals in Faisalabad, Pakistan, 2015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6634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299</a:t>
            </a:r>
            <a:endParaRPr lang="en-US" sz="3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patients in the file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566160" y="46634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239 / 60</a:t>
            </a:r>
            <a:endParaRPr lang="en-US" sz="3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training / test patients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46634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32.2 %</a:t>
            </a:r>
            <a:endParaRPr lang="en-US" sz="3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training patients died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9052560" y="46634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F2</a:t>
            </a:r>
            <a:endParaRPr lang="en-US" sz="3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metric for model, threshold and success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A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Step 2: the problem is fixed before any model</a:t>
            </a:r>
            <a:endParaRPr lang="en-US" sz="3000" dirty="0"/>
          </a:p>
        </p:txBody>
      </p:sp>
      <p:pic>
        <p:nvPicPr>
          <p:cNvPr id="3" name="screen problem" descr="D:\CoRE AI Research Visit\human-agentic-data-analysis\human-agentic-data-analysis\Presentation\build\screens\h1_pro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7680960" cy="2883314"/>
          </a:xfrm>
          <a:prstGeom prst="rect">
            <a:avLst/>
          </a:prstGeom>
        </p:spPr>
      </p:pic>
      <p:sp>
        <p:nvSpPr>
          <p:cNvPr id="4" name="card Prediction, not explanation"/>
          <p:cNvSpPr/>
          <p:nvPr/>
        </p:nvSpPr>
        <p:spPr>
          <a:xfrm>
            <a:off x="8503920" y="1280160"/>
            <a:ext cx="31089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686800" y="1389888"/>
            <a:ext cx="274320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Prediction, not explanation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"The aim is prediction for new patients, not explaining causes" (ADM-2, p. 20).</a:t>
            </a:r>
            <a:endParaRPr lang="en-US" sz="1600" dirty="0"/>
          </a:p>
        </p:txBody>
      </p:sp>
      <p:sp>
        <p:nvSpPr>
          <p:cNvPr id="6" name="card One metric"/>
          <p:cNvSpPr/>
          <p:nvPr/>
        </p:nvSpPr>
        <p:spPr>
          <a:xfrm>
            <a:off x="8503920" y="2880360"/>
            <a:ext cx="31089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0" y="2990088"/>
            <a:ext cx="274320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One metric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F2 counts recall twice as heavily as precision: a missed death costs more than a false alarm (p. 92).</a:t>
            </a:r>
            <a:endParaRPr lang="en-US" sz="1600" dirty="0"/>
          </a:p>
        </p:txBody>
      </p:sp>
      <p:sp>
        <p:nvSpPr>
          <p:cNvPr id="8" name="card A weak target caught"/>
          <p:cNvSpPr/>
          <p:nvPr/>
        </p:nvSpPr>
        <p:spPr>
          <a:xfrm>
            <a:off x="8503920" y="4480560"/>
            <a:ext cx="31089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0" y="4590288"/>
            <a:ext cx="274320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A weak target caught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Flagging everyone already scores 0.7038, so the target of 0.6 was replaced before any model.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355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Render of Demonstration/Heart Failure/Demonstration Appendix.md, Problem Definition (excerpt).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A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Step 3: the training data, before any model</a:t>
            </a:r>
            <a:endParaRPr lang="en-US" sz="3000" dirty="0"/>
          </a:p>
        </p:txBody>
      </p:sp>
      <p:pic>
        <p:nvPicPr>
          <p:cNvPr id="3" name="figure 1" descr="D:\CoRE AI Research Visit\human-agentic-data-analysis\human-agentic-data-analysis\Code\outputs\figures\fig1_numeric_by_outc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6035040" cy="3402978"/>
          </a:xfrm>
          <a:prstGeom prst="rect">
            <a:avLst/>
          </a:prstGeom>
        </p:spPr>
      </p:pic>
      <p:pic>
        <p:nvPicPr>
          <p:cNvPr id="4" name="figure 3" descr="D:\CoRE AI Research Visit\human-agentic-data-analysis\human-agentic-data-analysis\Code\outputs\figures\fig3_creatinine_ejec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280160"/>
            <a:ext cx="4800600" cy="2956533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2578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Blue: no death; orange: died.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239 training patients; the 60 held-out patients are not shown. The user expected higher creatinine and lower ejection fraction to go with risk — a direction, recorded in their words, not a shape, so P8 stays unknown.</a:t>
            </a:r>
            <a:endParaRPr lang="en-US" sz="15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355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Figures 1 and 3 of Demonstration/Heart Failure/Demonstration Report.md.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A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The prior records an expectation — this one was wrong</a:t>
            </a:r>
            <a:endParaRPr lang="en-US" sz="3000" dirty="0"/>
          </a:p>
        </p:txBody>
      </p:sp>
      <p:pic>
        <p:nvPicPr>
          <p:cNvPr id="3" name="screen prior" descr="D:\CoRE AI Research Visit\human-agentic-data-analysis\human-agentic-data-analysis\Presentation\build\screens\h2_pri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7680960" cy="2747420"/>
          </a:xfrm>
          <a:prstGeom prst="rect">
            <a:avLst/>
          </a:prstGeom>
        </p:spPr>
      </p:pic>
      <p:sp>
        <p:nvSpPr>
          <p:cNvPr id="4" name="card Rules propose"/>
          <p:cNvSpPr/>
          <p:nvPr/>
        </p:nvSpPr>
        <p:spPr>
          <a:xfrm>
            <a:off x="8503920" y="1280160"/>
            <a:ext cx="31089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686800" y="1389888"/>
            <a:ext cx="274320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Rules propose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ranking kept the baseline, plain logistic regression and the three highest-ranked others.</a:t>
            </a:r>
            <a:endParaRPr lang="en-US" sz="1600" dirty="0"/>
          </a:p>
        </p:txBody>
      </p:sp>
      <p:sp>
        <p:nvSpPr>
          <p:cNvPr id="6" name="card Cross-validation decides"/>
          <p:cNvSpPr/>
          <p:nvPr/>
        </p:nvSpPr>
        <p:spPr>
          <a:xfrm>
            <a:off x="8503920" y="2880360"/>
            <a:ext cx="31089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0" y="2990088"/>
            <a:ext cx="274320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Cross-validation decides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tree, expected last, came first.</a:t>
            </a:r>
            <a:endParaRPr lang="en-US" sz="1600" dirty="0"/>
          </a:p>
        </p:txBody>
      </p:sp>
      <p:sp>
        <p:nvSpPr>
          <p:cNvPr id="8" name="card Recorded, not explained away"/>
          <p:cNvSpPr/>
          <p:nvPr/>
        </p:nvSpPr>
        <p:spPr>
          <a:xfrm>
            <a:off x="8503920" y="4480560"/>
            <a:ext cx="31089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0" y="4590288"/>
            <a:ext cx="274320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Recorded, not explained away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disagreement is a finding; the record says which reasoning was wrong.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355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Render of Demonstration/Heart Failure/Demonstration Appendix.md, DR-13 (excerpt).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A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Cross-validation decides; simplicity breaks the tie</a:t>
            </a:r>
            <a:endParaRPr lang="en-US" sz="3000" dirty="0"/>
          </a:p>
        </p:txBody>
      </p:sp>
      <p:pic>
        <p:nvPicPr>
          <p:cNvPr id="3" name="screen cv" descr="D:\CoRE AI Research Visit\human-agentic-data-analysis\human-agentic-data-analysis\Presentation\build\screens\h3_c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280160"/>
            <a:ext cx="9144000" cy="3657600"/>
          </a:xfrm>
          <a:prstGeom prst="rect">
            <a:avLst/>
          </a:prstGeom>
        </p:spPr>
      </p:pic>
      <p:sp>
        <p:nvSpPr>
          <p:cNvPr id="4" name="circle 1"/>
          <p:cNvSpPr/>
          <p:nvPr/>
        </p:nvSpPr>
        <p:spPr>
          <a:xfrm>
            <a:off x="548640" y="51663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5166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188720" y="512064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Tree vs Logistic + poly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0.5567 vs 0.5286: a difference of 0.03 against a fold spread of 0.14</a:t>
            </a:r>
            <a:endParaRPr lang="en-US" sz="1600" dirty="0"/>
          </a:p>
        </p:txBody>
      </p:sp>
      <p:sp>
        <p:nvSpPr>
          <p:cNvPr id="7" name="circle 2"/>
          <p:cNvSpPr/>
          <p:nvPr/>
        </p:nvSpPr>
        <p:spPr>
          <a:xfrm>
            <a:off x="4297680" y="51663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297680" y="5166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937760" y="512064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Can't be told apart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below half the spread (§19), so the one with fewer add-ons wins: the tree (p. 332)</a:t>
            </a:r>
            <a:endParaRPr lang="en-US" sz="1600" dirty="0"/>
          </a:p>
        </p:txBody>
      </p:sp>
      <p:sp>
        <p:nvSpPr>
          <p:cNvPr id="10" name="circle 3"/>
          <p:cNvSpPr/>
          <p:nvPr/>
        </p:nvSpPr>
        <p:spPr>
          <a:xfrm>
            <a:off x="8046720" y="51663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46720" y="5166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686800" y="512064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Selection confidence: Low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clear over the baseline, but not over the runner-up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355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Render of Demonstration/Heart Failure/Demonstration Appendix.md, DR-15 (excerpt).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A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One test, approved by the user, reported as found</a:t>
            </a:r>
            <a:endParaRPr lang="en-US" sz="3000" dirty="0"/>
          </a:p>
        </p:txBody>
      </p:sp>
      <p:pic>
        <p:nvPicPr>
          <p:cNvPr id="3" name="screen final" descr="D:\CoRE AI Research Visit\human-agentic-data-analysis\human-agentic-data-analysis\Presentation\build\screens\h4_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7680960" cy="3805029"/>
          </a:xfrm>
          <a:prstGeom prst="rect">
            <a:avLst/>
          </a:prstGeom>
        </p:spPr>
      </p:pic>
      <p:sp>
        <p:nvSpPr>
          <p:cNvPr id="4" name="card Approved first"/>
          <p:cNvSpPr/>
          <p:nvPr/>
        </p:nvSpPr>
        <p:spPr>
          <a:xfrm>
            <a:off x="8503920" y="1280160"/>
            <a:ext cx="31089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686800" y="1389888"/>
            <a:ext cx="274320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Approved first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test set was used once, only after the user approved it.</a:t>
            </a:r>
            <a:endParaRPr lang="en-US" sz="1600" dirty="0"/>
          </a:p>
        </p:txBody>
      </p:sp>
      <p:sp>
        <p:nvSpPr>
          <p:cNvPr id="6" name="card Checked twice"/>
          <p:cNvSpPr/>
          <p:nvPr/>
        </p:nvSpPr>
        <p:spPr>
          <a:xfrm>
            <a:off x="8503920" y="2880360"/>
            <a:ext cx="31089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0" y="2990088"/>
            <a:ext cx="274320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Checked twice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test F2 was recomputed independently from the saved predictions.</a:t>
            </a:r>
            <a:endParaRPr lang="en-US" sz="1600" dirty="0"/>
          </a:p>
        </p:txBody>
      </p:sp>
      <p:sp>
        <p:nvSpPr>
          <p:cNvPr id="8" name="card Nothing moved after"/>
          <p:cNvSpPr/>
          <p:nvPr/>
        </p:nvSpPr>
        <p:spPr>
          <a:xfrm>
            <a:off x="8503920" y="4480560"/>
            <a:ext cx="31089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0" y="4590288"/>
            <a:ext cx="274320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Nothing moved after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"Do not change the model, threshold or criterion after seeing the result."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355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Render of Demonstration/Heart Failure/Demonstration Appendix.md, DR-19 (excerpt).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A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The success criterion was not met — and the report says so</a:t>
            </a:r>
            <a:endParaRPr lang="en-US" sz="3000" dirty="0"/>
          </a:p>
        </p:txBody>
      </p:sp>
      <p:pic>
        <p:nvPicPr>
          <p:cNvPr id="3" name="figure 4" descr="D:\CoRE AI Research Visit\human-agentic-data-analysis\human-agentic-data-analysis\Code\outputs\figures\fig4_pr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669280" cy="382780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583680" y="137160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0.68</a:t>
            </a:r>
            <a:endParaRPr lang="en-US" sz="32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test F2 of the tree (fold spread 0.09)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9189720" y="137160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3"/>
                </a:solidFill>
              </a:rPr>
              <a:t>0.70</a:t>
            </a:r>
            <a:endParaRPr lang="en-US" sz="32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test F2 of flagging every patient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6583680" y="278892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16 of 19</a:t>
            </a:r>
            <a:endParaRPr lang="en-US" sz="32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deaths flagged (recall 0.84)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9189720" y="278892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16 of 42</a:t>
            </a:r>
            <a:endParaRPr lang="en-US" sz="32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flagged patients died (precision 0.38)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583680" y="429768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Success needed F2 above 0.79.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With 19 deaths among 60 held-out patients, only large differences in F2 can be detected. The result is an average over patients like these; it says nothing about the worst individual prediction (p. 347).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355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Figure 4 and Results of Demonstration/Heart Failure/Demonstration Report.md.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8A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Where it stands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Heart Failure: all five steps done; kept as the reference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Sepsis (PhysioNet 2019): steps 1–3 closed; it prompted one FRAMEWORK change, the diagnosis error for imbalanced classes (p. 91)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Next: Sepsis step 4, then the Mobile Price dataset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Then: build Code/advisor/ from the interim cores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gentic ML Advisor">
  <a:themeElements>
    <a:clrScheme name="Agentic ML Advisor">
      <a:dk1>
        <a:srgbClr val="1B2631"/>
      </a:dk1>
      <a:lt1>
        <a:srgbClr val="FFFFFF"/>
      </a:lt1>
      <a:dk2>
        <a:srgbClr val="0E4D57"/>
      </a:dk2>
      <a:lt2>
        <a:srgbClr val="EEF3F4"/>
      </a:lt2>
      <a:accent1>
        <a:srgbClr val="0E7C86"/>
      </a:accent1>
      <a:accent2>
        <a:srgbClr val="E0703A"/>
      </a:accent2>
      <a:accent3>
        <a:srgbClr val="6C8A93"/>
      </a:accent3>
      <a:accent4>
        <a:srgbClr val="2A78D6"/>
      </a:accent4>
      <a:accent5>
        <a:srgbClr val="1BAF7A"/>
      </a:accent5>
      <a:accent6>
        <a:srgbClr val="8E5BA8"/>
      </a:accent6>
      <a:hlink>
        <a:srgbClr val="0E7C86"/>
      </a:hlink>
      <a:folHlink>
        <a:srgbClr val="6C8A93"/>
      </a:folHlink>
    </a:clrScheme>
    <a:fontScheme name="Agentic ML Adviso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agentic ML advisor that works the way the book does</dc:title>
  <dc:subject>PptxGenJS Presentation</dc:subject>
  <dc:creator>Florentine Mukamana</dc:creator>
  <cp:lastModifiedBy>Florentine Mukamana</cp:lastModifiedBy>
  <cp:revision>1</cp:revision>
  <dcterms:created xsi:type="dcterms:W3CDTF">2026-10-19T19:55:12Z</dcterms:created>
  <dcterms:modified xsi:type="dcterms:W3CDTF">2026-10-19T19:55:12Z</dcterms:modified>
</cp:coreProperties>
</file>